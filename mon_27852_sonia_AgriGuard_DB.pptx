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76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9" r:id="rId7"/>
    <p:sldId id="261" r:id="rId8"/>
    <p:sldId id="264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45E872-1A40-4FE7-986C-59F628C1E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F5374-08E9-4C85-B7A7-3F19604B5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06F1-B57D-406B-8F09-B1FDC0D0B1F3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FACC5-BCFD-4649-8006-C71939BACE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46B17-7076-4944-A4A2-FD49936A33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EDE44-B1FC-494A-A972-62DC7CABB2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689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F2BD-238E-42D0-B670-F788A50DBDE8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8DF69-FFB1-4D3A-9D8C-5887E79674D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7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5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66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79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12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7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139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B3A824-1A51-4B26-AD58-A6D8E14F6C04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8728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039002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60355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670044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352574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5428768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825989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383603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84873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552621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4763889"/>
      </p:ext>
    </p:extLst>
  </p:cSld>
  <p:clrMapOvr>
    <a:masterClrMapping/>
  </p:clrMapOvr>
  <p:transition>
    <p:split orient="vert"/>
    <p:sndAc>
      <p:stSnd>
        <p:snd r:embed="rId1" name="bomb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noProof="0" smtClean="0"/>
              <a:t>12/4/2025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225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ransition>
    <p:split orient="vert"/>
    <p:sndAc>
      <p:stSnd>
        <p:snd r:embed="rId13" name="bomb.wav"/>
      </p:stSnd>
    </p:sndAc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inezasonia100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hyperlink" Target="https://github.com/StID-2785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1">
            <a:extLst>
              <a:ext uri="{FF2B5EF4-FFF2-40B4-BE49-F238E27FC236}">
                <a16:creationId xmlns:a16="http://schemas.microsoft.com/office/drawing/2014/main" id="{63FED537-3AF1-4C36-9904-77B6A54D27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980" y="4206240"/>
            <a:ext cx="9966960" cy="1325880"/>
          </a:xfrm>
        </p:spPr>
        <p:txBody>
          <a:bodyPr>
            <a:normAutofit/>
          </a:bodyPr>
          <a:lstStyle/>
          <a:p>
            <a:r>
              <a:rPr lang="en-US" sz="6600" cap="none" dirty="0" smtClean="0"/>
              <a:t>AgriGuard Project</a:t>
            </a:r>
            <a:endParaRPr lang="en-US" sz="6600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0518" y="5532120"/>
            <a:ext cx="6625883" cy="55369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Here to advance Agriculture using Technical Tools of our generation (PL/SQL). Modernize Agriculture.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2" y="253219"/>
            <a:ext cx="11718386" cy="349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6693061" cy="1356360"/>
          </a:xfrm>
        </p:spPr>
        <p:txBody>
          <a:bodyPr>
            <a:normAutofit/>
          </a:bodyPr>
          <a:lstStyle/>
          <a:p>
            <a:r>
              <a:rPr lang="en-US" sz="3800" dirty="0" smtClean="0"/>
              <a:t>AgriGuard + </a:t>
            </a:r>
            <a:r>
              <a:rPr lang="en-US" sz="3800" dirty="0"/>
              <a:t>Smart Agricultural Disease Management System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6693060" cy="403860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chemeClr val="tx1"/>
                </a:solidFill>
              </a:rPr>
              <a:t>Student: Sonia Ineza</a:t>
            </a:r>
          </a:p>
          <a:p>
            <a:pPr lvl="0"/>
            <a:r>
              <a:rPr lang="en-US" sz="2400" dirty="0">
                <a:solidFill>
                  <a:schemeClr val="tx1"/>
                </a:solidFill>
              </a:rPr>
              <a:t>Student ID: 27852</a:t>
            </a:r>
          </a:p>
          <a:p>
            <a:pPr lvl="0"/>
            <a:r>
              <a:rPr lang="en-US" sz="2400" dirty="0">
                <a:solidFill>
                  <a:schemeClr val="tx1"/>
                </a:solidFill>
              </a:rPr>
              <a:t>Group: Monday</a:t>
            </a:r>
          </a:p>
          <a:p>
            <a:pPr lvl="0"/>
            <a:r>
              <a:rPr lang="en-US" sz="2400" dirty="0">
                <a:solidFill>
                  <a:schemeClr val="tx1"/>
                </a:solidFill>
              </a:rPr>
              <a:t>Course: Database Development with </a:t>
            </a:r>
            <a:r>
              <a:rPr lang="en-US" sz="2400" dirty="0" smtClean="0">
                <a:solidFill>
                  <a:schemeClr val="tx1"/>
                </a:solidFill>
              </a:rPr>
              <a:t>PL/SQL(INSY </a:t>
            </a:r>
            <a:r>
              <a:rPr lang="en-US" sz="2400" dirty="0">
                <a:solidFill>
                  <a:schemeClr val="tx1"/>
                </a:solidFill>
              </a:rPr>
              <a:t>8311)</a:t>
            </a:r>
          </a:p>
          <a:p>
            <a:pPr lvl="0"/>
            <a:r>
              <a:rPr lang="en-US" sz="2400" dirty="0">
                <a:solidFill>
                  <a:schemeClr val="tx1"/>
                </a:solidFill>
              </a:rPr>
              <a:t>Date: November 2025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Institution: AUCA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314" y="239150"/>
            <a:ext cx="3995224" cy="638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7438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88E1-1C83-45CD-94C1-01CE6D18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612" y="609600"/>
            <a:ext cx="6693061" cy="1356360"/>
          </a:xfrm>
        </p:spPr>
        <p:txBody>
          <a:bodyPr>
            <a:normAutofit/>
          </a:bodyPr>
          <a:lstStyle/>
          <a:p>
            <a:r>
              <a:rPr lang="en-US" dirty="0"/>
              <a:t>The Agricultural Challenge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5612" y="2057400"/>
            <a:ext cx="6693061" cy="4038600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Late disease detection leads to 30-40% crop loss in small farms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Manual treatment recording results in repeated mistakes and over-treatment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No centralized tracking of crop cycles, chemical usage, or treatment history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Farmers rely on guesswork instead of data-driven decisions</a:t>
            </a:r>
          </a:p>
          <a:p>
            <a:pPr lvl="0"/>
            <a:r>
              <a:rPr lang="en-US" dirty="0">
                <a:solidFill>
                  <a:schemeClr val="tx1"/>
                </a:solidFill>
              </a:rPr>
              <a:t>Limited analytics prevent early warning and productivity </a:t>
            </a:r>
            <a:r>
              <a:rPr lang="en-US" dirty="0" smtClean="0">
                <a:solidFill>
                  <a:schemeClr val="tx1"/>
                </a:solidFill>
              </a:rPr>
              <a:t>improvement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3" y="239151"/>
            <a:ext cx="4550529" cy="638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67303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7677443" cy="1356360"/>
          </a:xfrm>
        </p:spPr>
        <p:txBody>
          <a:bodyPr>
            <a:normAutofit/>
          </a:bodyPr>
          <a:lstStyle/>
          <a:p>
            <a:r>
              <a:rPr lang="en-US" dirty="0"/>
              <a:t>AgriGuard+ Smart Solution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7677442" cy="4038600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</a:rPr>
              <a:t>What:</a:t>
            </a:r>
            <a:r>
              <a:rPr lang="en-US" dirty="0">
                <a:solidFill>
                  <a:schemeClr val="tx1"/>
                </a:solidFill>
              </a:rPr>
              <a:t> PL/SQL-powered agricultural management system</a:t>
            </a:r>
          </a:p>
          <a:p>
            <a:pPr lvl="0"/>
            <a:r>
              <a:rPr lang="en-US" b="1" dirty="0">
                <a:solidFill>
                  <a:schemeClr val="tx1"/>
                </a:solidFill>
              </a:rPr>
              <a:t>Where:</a:t>
            </a:r>
            <a:r>
              <a:rPr lang="en-US" dirty="0">
                <a:solidFill>
                  <a:schemeClr val="tx1"/>
                </a:solidFill>
              </a:rPr>
              <a:t> Small to medium-scale farms in Rwanda/East Africa</a:t>
            </a:r>
          </a:p>
          <a:p>
            <a:pPr lvl="0"/>
            <a:r>
              <a:rPr lang="en-US" b="1" dirty="0">
                <a:solidFill>
                  <a:schemeClr val="tx1"/>
                </a:solidFill>
              </a:rPr>
              <a:t>How:</a:t>
            </a:r>
            <a:r>
              <a:rPr lang="en-US" dirty="0">
                <a:solidFill>
                  <a:schemeClr val="tx1"/>
                </a:solidFill>
              </a:rPr>
              <a:t> Automates disease detection, treatment management, and inventory control</a:t>
            </a:r>
          </a:p>
          <a:p>
            <a:pPr lvl="0"/>
            <a:r>
              <a:rPr lang="en-US" b="1" dirty="0">
                <a:solidFill>
                  <a:schemeClr val="tx1"/>
                </a:solidFill>
              </a:rPr>
              <a:t>Technology:</a:t>
            </a:r>
            <a:r>
              <a:rPr lang="en-US" dirty="0">
                <a:solidFill>
                  <a:schemeClr val="tx1"/>
                </a:solidFill>
              </a:rPr>
              <a:t> Oracle Database with advanced PL/SQL features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315" y="4331017"/>
            <a:ext cx="2057400" cy="2219325"/>
          </a:xfrm>
          <a:prstGeom prst="roundRect">
            <a:avLst>
              <a:gd name="adj" fmla="val 16667"/>
            </a:avLst>
          </a:prstGeom>
          <a:ln>
            <a:solidFill>
              <a:schemeClr val="accent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315" y="306778"/>
            <a:ext cx="2057400" cy="2333625"/>
          </a:xfrm>
          <a:prstGeom prst="roundRect">
            <a:avLst>
              <a:gd name="adj" fmla="val 16667"/>
            </a:avLst>
          </a:prstGeom>
          <a:ln>
            <a:solidFill>
              <a:schemeClr val="accent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84420598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effectLst>
            <a:glow rad="127000">
              <a:schemeClr val="bg1"/>
            </a:glow>
            <a:outerShdw blurRad="50800" dist="38100" dir="10800000" algn="r" rotWithShape="0">
              <a:schemeClr val="accent1">
                <a:alpha val="40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308" y="314179"/>
            <a:ext cx="7677443" cy="135636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Who Benefits?</a:t>
            </a:r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632" y="2160519"/>
            <a:ext cx="7677442" cy="4038600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</a:rPr>
              <a:t>Primary Users:</a:t>
            </a:r>
            <a:r>
              <a:rPr lang="en-US" sz="2400" dirty="0">
                <a:solidFill>
                  <a:schemeClr val="tx1"/>
                </a:solidFill>
              </a:rPr>
              <a:t> Smallholder farmers and agricultural cooperatives</a:t>
            </a:r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400" b="1" dirty="0">
                <a:solidFill>
                  <a:schemeClr val="tx1"/>
                </a:solidFill>
              </a:rPr>
              <a:t>Secondary Users:</a:t>
            </a:r>
            <a:r>
              <a:rPr lang="en-US" sz="2400" dirty="0">
                <a:solidFill>
                  <a:schemeClr val="tx1"/>
                </a:solidFill>
              </a:rPr>
              <a:t> Agricultural extension officers and farm managers</a:t>
            </a:r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400" b="1" dirty="0">
                <a:solidFill>
                  <a:schemeClr val="tx1"/>
                </a:solidFill>
              </a:rPr>
              <a:t>Government:</a:t>
            </a:r>
            <a:r>
              <a:rPr lang="en-US" sz="2400" dirty="0">
                <a:solidFill>
                  <a:schemeClr val="tx1"/>
                </a:solidFill>
              </a:rPr>
              <a:t> Ministry of Agriculture for disease surveillance</a:t>
            </a:r>
            <a:endParaRPr lang="en-US" sz="2000" dirty="0">
              <a:solidFill>
                <a:schemeClr val="tx1"/>
              </a:solidFill>
            </a:endParaRPr>
          </a:p>
          <a:p>
            <a:pPr lvl="0"/>
            <a:r>
              <a:rPr lang="en-US" sz="2400" b="1" dirty="0">
                <a:solidFill>
                  <a:schemeClr val="tx1"/>
                </a:solidFill>
              </a:rPr>
              <a:t>Expected Outcomes: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Reduce crop loss by 25-35%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Optimize chemical usage and reduce costs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Enable data-driven farming decisions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Build historical treatment records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37519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6355081" cy="1356360"/>
          </a:xfrm>
        </p:spPr>
        <p:txBody>
          <a:bodyPr>
            <a:normAutofit/>
          </a:bodyPr>
          <a:lstStyle/>
          <a:p>
            <a:r>
              <a:rPr lang="en-US" dirty="0"/>
              <a:t>Goals &amp; Business Intelligence Integration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6355080" cy="4038600"/>
          </a:xfrm>
          <a:ln>
            <a:noFill/>
          </a:ln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solidFill>
                  <a:schemeClr val="tx1"/>
                </a:solidFill>
              </a:rPr>
              <a:t>Project Goals: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Automate disease-treatment workflow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Track complete crop lifecycle from planting to harvest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Implement smart inventory management with alerts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comprehensive audit trail for all farm activities</a:t>
            </a:r>
          </a:p>
          <a:p>
            <a:pPr marL="45720" indent="0">
              <a:buNone/>
            </a:pPr>
            <a:r>
              <a:rPr lang="en-US" b="1" dirty="0">
                <a:solidFill>
                  <a:schemeClr val="tx1"/>
                </a:solidFill>
              </a:rPr>
              <a:t>BI Potential: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Disease recurrence dashboards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Chemical consumption analytics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Yield prediction models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Early warning system for disease outbreaks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Field performance comparisons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1" y="1555066"/>
            <a:ext cx="4192170" cy="39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52675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1407-D1A6-42DD-AE7A-4FA34ACD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3928" y="701040"/>
            <a:ext cx="5038844" cy="1356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FF5D4E-7134-4EA4-BA11-FE50F457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70" y="3213464"/>
            <a:ext cx="5107577" cy="1358538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sz="2800" dirty="0" smtClean="0">
                <a:solidFill>
                  <a:schemeClr val="tx1"/>
                </a:solidFill>
                <a:hlinkClick r:id="rId3"/>
              </a:rPr>
              <a:t>inezasonia100@gmail.com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sz="2800" dirty="0">
                <a:solidFill>
                  <a:schemeClr val="tx1"/>
                </a:solidFill>
                <a:hlinkClick r:id="rId4"/>
              </a:rPr>
              <a:t>https://</a:t>
            </a:r>
            <a:r>
              <a:rPr lang="en-US" sz="2800" dirty="0" smtClean="0">
                <a:solidFill>
                  <a:schemeClr val="tx1"/>
                </a:solidFill>
                <a:hlinkClick r:id="rId4"/>
              </a:rPr>
              <a:t>github.com/StID-27852</a:t>
            </a:r>
            <a:endParaRPr lang="en-US" sz="2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" y="243839"/>
            <a:ext cx="5867400" cy="63779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6983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57C456-CC1D-4991-B397-26B0CCF834E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AD055F-6A08-4727-8DB8-D3FD1D1AA7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FAE8E-18A7-4D4B-B1D5-F068BB36F4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Tourism design</Template>
  <TotalTime>0</TotalTime>
  <Words>261</Words>
  <Application>Microsoft Office PowerPoint</Application>
  <PresentationFormat>Widescreen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Corbel</vt:lpstr>
      <vt:lpstr>Basis</vt:lpstr>
      <vt:lpstr>AgriGuard Project</vt:lpstr>
      <vt:lpstr>AgriGuard + Smart Agricultural Disease Management System</vt:lpstr>
      <vt:lpstr>The Agricultural Challenge</vt:lpstr>
      <vt:lpstr>AgriGuard+ Smart Solution</vt:lpstr>
      <vt:lpstr>Who Benefits?</vt:lpstr>
      <vt:lpstr>Goals &amp; Business Intelligence Integration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2025-12-04T07:55:22Z</dcterms:created>
  <dcterms:modified xsi:type="dcterms:W3CDTF">2025-12-04T09:24:31Z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